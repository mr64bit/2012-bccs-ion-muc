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3" r:id="rId3"/>
    <p:sldId id="259" r:id="rId4"/>
    <p:sldId id="257" r:id="rId5"/>
    <p:sldId id="268" r:id="rId6"/>
    <p:sldId id="273" r:id="rId7"/>
    <p:sldId id="269" r:id="rId8"/>
    <p:sldId id="274" r:id="rId9"/>
    <p:sldId id="275" r:id="rId10"/>
    <p:sldId id="260" r:id="rId11"/>
    <p:sldId id="272" r:id="rId12"/>
    <p:sldId id="271" r:id="rId13"/>
    <p:sldId id="264" r:id="rId14"/>
    <p:sldId id="265" r:id="rId15"/>
    <p:sldId id="258" r:id="rId16"/>
    <p:sldId id="261" r:id="rId1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791A"/>
    <a:srgbClr val="171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24" autoAdjust="0"/>
    <p:restoredTop sz="87940" autoAdjust="0"/>
  </p:normalViewPr>
  <p:slideViewPr>
    <p:cSldViewPr>
      <p:cViewPr varScale="1">
        <p:scale>
          <a:sx n="65" d="100"/>
          <a:sy n="65" d="100"/>
        </p:scale>
        <p:origin x="11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A9D1F-A101-4D8F-95A3-880C74B85695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1F291-AF89-4CA6-B48F-CCCDEF58E8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25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33577-F39A-4FF8-8EFC-276784B793B8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19DB4-C68B-4A90-9153-3D3F4160AB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20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Everyone</a:t>
            </a:r>
            <a:r>
              <a:rPr lang="en-US" baseline="0" dirty="0" smtClean="0"/>
              <a:t> introduces themselves. James starts introduction. Jacob, Josh, Allen, and Ethan.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65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Ethan – improve comparison between old fashioned knight/horse and air warfare</a:t>
            </a:r>
            <a:r>
              <a:rPr lang="en-US" baseline="0" dirty="0" smtClean="0"/>
              <a:t> now as new battle ground – go Ethan!!!</a:t>
            </a:r>
          </a:p>
          <a:p>
            <a:r>
              <a:rPr lang="en-US" baseline="0" dirty="0" smtClean="0"/>
              <a:t>This slide should take 60-90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3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Jacob and Allen</a:t>
            </a:r>
            <a:r>
              <a:rPr lang="en-US" baseline="0" dirty="0" smtClean="0"/>
              <a:t>– work out between you two how you want to do this. ONE MINUTE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03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Josh – wave around plastic treads – then flash to next picture for CAD of Prototype 1 </a:t>
            </a:r>
          </a:p>
          <a:p>
            <a:r>
              <a:rPr lang="en-US" baseline="0" dirty="0" smtClean="0"/>
              <a:t>All 6 Robot Design slides total should take 2-3 minutes max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63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Drew - Point out the size of the NXT brick  (it</a:t>
            </a:r>
            <a:r>
              <a:rPr lang="en-US" baseline="0" dirty="0" smtClean="0"/>
              <a:t> is there just for reference) putting it on top would have made this top heavy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29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Josh – wave around rubber treads – then flash to next picture for CAD of Prototype 1 </a:t>
            </a:r>
          </a:p>
          <a:p>
            <a:r>
              <a:rPr lang="en-US" baseline="0" dirty="0" smtClean="0"/>
              <a:t>All 6 Robot Design slides total should take 2-3 minutes max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65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Josh – point out NXT</a:t>
            </a:r>
            <a:r>
              <a:rPr lang="en-US" baseline="0" dirty="0" smtClean="0"/>
              <a:t> brick upside down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70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Drew</a:t>
            </a:r>
            <a:r>
              <a:rPr lang="en-US" baseline="0" dirty="0" smtClean="0"/>
              <a:t> – wave around rubber treads – then flash to next picture for CAD of Prototype 1 </a:t>
            </a:r>
          </a:p>
          <a:p>
            <a:r>
              <a:rPr lang="en-US" baseline="0" dirty="0" smtClean="0"/>
              <a:t>All 6 Robot Design slides total should take 2-3 minutes max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19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Drew – point out NXT</a:t>
            </a:r>
            <a:r>
              <a:rPr lang="en-US" baseline="0" dirty="0" smtClean="0"/>
              <a:t> brick upside down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89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James – PID</a:t>
            </a:r>
            <a:r>
              <a:rPr lang="en-US" baseline="0" dirty="0" smtClean="0"/>
              <a:t> values change based on line color (speed), curve of road, and parking, BC a higher gain is needed. Explain 3-digit code on next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97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James – First digit is what robot does when it gets to the stop sign, and how to proceed through the intersection.  Second digit is which side of the road</a:t>
            </a:r>
            <a:r>
              <a:rPr lang="en-US" baseline="0" dirty="0" smtClean="0"/>
              <a:t> to follow until it reached the stop sign. Third digit is which parking spot to park in if we are parking. (0 or ignored if not parking)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49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James – Motors ramp up and down to maintain perfect</a:t>
            </a:r>
            <a:r>
              <a:rPr lang="en-US" baseline="0" dirty="0" smtClean="0"/>
              <a:t> speed, regardless of battery voltage. Use the raw color counts to generate a 0-255 number that we use to follow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82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2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7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Drew - Ethan</a:t>
            </a:r>
          </a:p>
          <a:p>
            <a:r>
              <a:rPr lang="en-US" dirty="0" smtClean="0"/>
              <a:t>This slide should take less than 1</a:t>
            </a:r>
            <a:r>
              <a:rPr lang="en-US" baseline="0" dirty="0" smtClean="0"/>
              <a:t> minute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229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James – </a:t>
            </a:r>
            <a:r>
              <a:rPr lang="en-US" dirty="0" err="1" smtClean="0"/>
              <a:t>nSynched</a:t>
            </a:r>
            <a:r>
              <a:rPr lang="en-US" baseline="0" dirty="0" err="1" smtClean="0"/>
              <a:t>TurnRatio</a:t>
            </a:r>
            <a:r>
              <a:rPr lang="en-US" baseline="0" dirty="0" smtClean="0"/>
              <a:t> and </a:t>
            </a:r>
            <a:r>
              <a:rPr lang="en-US" baseline="0" dirty="0" err="1" smtClean="0"/>
              <a:t>nMotorEncoderTarget</a:t>
            </a:r>
            <a:r>
              <a:rPr lang="en-US" baseline="0" dirty="0" smtClean="0"/>
              <a:t> not recognizing reversed </a:t>
            </a:r>
            <a:r>
              <a:rPr lang="en-US" baseline="0" smtClean="0"/>
              <a:t>motors.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819DB4-C68B-4A90-9153-3D3F4160AB7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1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A61A13D-63DF-49CA-BF1D-4A4E7F3B9583}" type="datetimeFigureOut">
              <a:rPr lang="en-US" smtClean="0"/>
              <a:pPr/>
              <a:t>2013-04-05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254ABD9-A437-4636-972C-C4C5D86115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916" y="-228600"/>
            <a:ext cx="520982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6248400" cy="1143000"/>
          </a:xfrm>
        </p:spPr>
        <p:txBody>
          <a:bodyPr/>
          <a:lstStyle/>
          <a:p>
            <a:r>
              <a:rPr lang="en-US" dirty="0" smtClean="0"/>
              <a:t>Robot </a:t>
            </a:r>
            <a:r>
              <a:rPr lang="en-US" dirty="0" err="1" smtClean="0"/>
              <a:t>nKISA</a:t>
            </a:r>
            <a:r>
              <a:rPr lang="en-US" dirty="0" smtClean="0"/>
              <a:t> Perks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normAutofit lnSpcReduction="10000"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err="1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nKISA</a:t>
            </a:r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 has been UPGRADED!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What’s </a:t>
            </a:r>
            <a:r>
              <a:rPr lang="en-US" b="1" spc="150" dirty="0" err="1" smtClean="0">
                <a:ln w="11430"/>
                <a:solidFill>
                  <a:srgbClr val="FFC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nKISA</a:t>
            </a:r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? </a:t>
            </a:r>
          </a:p>
          <a:p>
            <a:pPr lvl="1"/>
            <a:r>
              <a:rPr lang="en-US" b="1" spc="150" dirty="0" smtClean="0">
                <a:ln w="11430"/>
                <a:solidFill>
                  <a:srgbClr val="FFC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n</a:t>
            </a:r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erdy </a:t>
            </a:r>
            <a:r>
              <a:rPr lang="en-US" b="1" spc="150" dirty="0" smtClean="0">
                <a:ln w="11430"/>
                <a:solidFill>
                  <a:srgbClr val="FFC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K</a:t>
            </a:r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nights </a:t>
            </a:r>
            <a:r>
              <a:rPr lang="en-US" b="1" spc="150" dirty="0" smtClean="0">
                <a:ln w="11430"/>
                <a:solidFill>
                  <a:srgbClr val="FFC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I</a:t>
            </a:r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n </a:t>
            </a:r>
            <a:r>
              <a:rPr lang="en-US" b="1" spc="150" dirty="0" smtClean="0">
                <a:ln w="11430"/>
                <a:solidFill>
                  <a:srgbClr val="FFC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</a:t>
            </a:r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hining </a:t>
            </a:r>
            <a:r>
              <a:rPr lang="en-US" b="1" spc="150" dirty="0" smtClean="0">
                <a:ln w="11430"/>
                <a:solidFill>
                  <a:srgbClr val="FFC0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A</a:t>
            </a:r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rmor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More fire power with range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More strength (in drive train)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Superior maneuverability 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Superior light weight shielding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Better technological radar and sensory   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0891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normAutofit fontScale="85000" lnSpcReduction="20000"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This year our team has expanded with two other members joining the team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Bringing these new people into the fold was a fairly smooth seamless operation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Starting this year, we had more experience than before, so we could get working on the robot straightaway.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Brainstorming and debating sessions for robot design and presentation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Working together to understand programming 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Encouraging input from all team members</a:t>
            </a: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1 – Plastic Tank treads = 				bad traction on 					painted tiles of 					competition mat.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2 – Half track with rubber 				treads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3 – Final and Current 						Design</a:t>
            </a:r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 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1089575"/>
            <a:ext cx="5413717" cy="5639289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 flipH="1">
            <a:off x="6248400" y="6400800"/>
            <a:ext cx="152400" cy="70520"/>
          </a:xfrm>
        </p:spPr>
        <p:txBody>
          <a:bodyPr>
            <a:normAutofit fontScale="25000" lnSpcReduction="20000"/>
          </a:bodyPr>
          <a:lstStyle/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1 – Plastic Tank treads = 				bad traction on 					painted tiles of 					competition mat.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2 – Half track with rubber 				treads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3 – Final and Current 						Design</a:t>
            </a:r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4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83" y="1600200"/>
            <a:ext cx="6278033" cy="470852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1 – Plastic Tank treads = 				bad traction on 					painted tiles of 					competition mat.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2 – Half track with rubber 				treads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Prototype 3 – Final and Current 						Design</a:t>
            </a:r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0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83" y="1600200"/>
            <a:ext cx="6278033" cy="470852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1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Programming the NXT Brick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Used ROBOTC from Carnegie Mellon University in Pittsburgh, PA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Line following – full PID controller with dynamic values depending on line color and curve of road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Systematic list of 3-digit direction codes</a:t>
            </a:r>
          </a:p>
          <a:p>
            <a:pPr>
              <a:buNone/>
            </a:pPr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6934200" cy="1143000"/>
          </a:xfrm>
        </p:spPr>
        <p:txBody>
          <a:bodyPr/>
          <a:lstStyle/>
          <a:p>
            <a:r>
              <a:rPr lang="en-US" dirty="0" smtClean="0"/>
              <a:t>3-Digit Direction Code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447800" y="1752600"/>
            <a:ext cx="2133600" cy="9906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Direction at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Intersection</a:t>
            </a:r>
            <a:endParaRPr kumimoji="0" lang="en-US" sz="2400" b="1" i="0" u="none" strike="noStrike" kern="1200" cap="none" spc="0" normalizeH="0" baseline="0" noProof="0" dirty="0">
              <a:ln w="6350">
                <a:noFill/>
              </a:ln>
              <a:gradFill>
                <a:gsLst>
                  <a:gs pos="0">
                    <a:schemeClr val="accent1">
                      <a:tint val="73000"/>
                      <a:satMod val="145000"/>
                    </a:schemeClr>
                  </a:gs>
                  <a:gs pos="73000">
                    <a:schemeClr val="accent1">
                      <a:tint val="73000"/>
                      <a:satMod val="145000"/>
                    </a:schemeClr>
                  </a:gs>
                  <a:gs pos="100000">
                    <a:schemeClr val="accent1">
                      <a:tint val="83000"/>
                      <a:satMod val="143000"/>
                    </a:scheme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733800" y="1905000"/>
            <a:ext cx="1676400" cy="762000"/>
          </a:xfrm>
          <a:prstGeom prst="rect">
            <a:avLst/>
          </a:prstGeom>
        </p:spPr>
        <p:txBody>
          <a:bodyPr vert="horz" anchor="ctr">
            <a:normAutofit lnSpcReduction="10000"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Line to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Follow</a:t>
            </a:r>
            <a:endParaRPr kumimoji="0" lang="en-US" sz="2400" b="1" i="0" u="none" strike="noStrike" kern="1200" cap="none" spc="0" normalizeH="0" baseline="0" noProof="0" dirty="0">
              <a:ln w="6350">
                <a:noFill/>
              </a:ln>
              <a:gradFill>
                <a:gsLst>
                  <a:gs pos="0">
                    <a:schemeClr val="accent1">
                      <a:tint val="73000"/>
                      <a:satMod val="145000"/>
                    </a:schemeClr>
                  </a:gs>
                  <a:gs pos="73000">
                    <a:schemeClr val="accent1">
                      <a:tint val="73000"/>
                      <a:satMod val="145000"/>
                    </a:schemeClr>
                  </a:gs>
                  <a:gs pos="100000">
                    <a:schemeClr val="accent1">
                      <a:tint val="83000"/>
                      <a:satMod val="143000"/>
                    </a:scheme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867400" y="1905000"/>
            <a:ext cx="1371600" cy="914400"/>
          </a:xfrm>
          <a:prstGeom prst="rect">
            <a:avLst/>
          </a:prstGeom>
        </p:spPr>
        <p:txBody>
          <a:bodyPr vert="horz" anchor="ctr">
            <a:normAutofit fontScale="55000" lnSpcReduction="20000"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Parking Space</a:t>
            </a:r>
            <a:endParaRPr kumimoji="0" lang="en-US" sz="4100" b="1" i="0" u="none" strike="noStrike" kern="1200" cap="none" spc="0" normalizeH="0" baseline="0" noProof="0" dirty="0">
              <a:ln w="6350">
                <a:noFill/>
              </a:ln>
              <a:gradFill>
                <a:gsLst>
                  <a:gs pos="0">
                    <a:schemeClr val="accent1">
                      <a:tint val="73000"/>
                      <a:satMod val="145000"/>
                    </a:schemeClr>
                  </a:gs>
                  <a:gs pos="73000">
                    <a:schemeClr val="accent1">
                      <a:tint val="73000"/>
                      <a:satMod val="145000"/>
                    </a:schemeClr>
                  </a:gs>
                  <a:gs pos="100000">
                    <a:schemeClr val="accent1">
                      <a:tint val="83000"/>
                      <a:satMod val="143000"/>
                    </a:scheme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4800" y="5334000"/>
            <a:ext cx="8229600" cy="1143000"/>
          </a:xfrm>
          <a:prstGeom prst="rect">
            <a:avLst/>
          </a:prstGeom>
        </p:spPr>
        <p:txBody>
          <a:bodyPr vert="horz" anchor="ctr">
            <a:normAutofit fontScale="70000" lnSpcReduction="20000"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612 would be Parking on Left following Left hand line Parking space 2</a:t>
            </a:r>
            <a:endParaRPr kumimoji="0" lang="en-US" sz="4100" b="1" i="0" u="none" strike="noStrike" kern="1200" cap="none" spc="0" normalizeH="0" baseline="0" noProof="0" dirty="0">
              <a:ln w="6350">
                <a:noFill/>
              </a:ln>
              <a:gradFill>
                <a:gsLst>
                  <a:gs pos="0">
                    <a:schemeClr val="accent1">
                      <a:tint val="73000"/>
                      <a:satMod val="145000"/>
                    </a:schemeClr>
                  </a:gs>
                  <a:gs pos="73000">
                    <a:schemeClr val="accent1">
                      <a:tint val="73000"/>
                      <a:satMod val="145000"/>
                    </a:schemeClr>
                  </a:gs>
                  <a:gs pos="100000">
                    <a:schemeClr val="accent1">
                      <a:tint val="83000"/>
                      <a:satMod val="143000"/>
                    </a:schemeClr>
                  </a:gs>
                </a:gsLst>
                <a:lin ang="4800000" scaled="1"/>
              </a:gradFill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Content Placeholder 10" descr="direction code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371600" y="1668462"/>
            <a:ext cx="6400800" cy="4572000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Motor controlled for speed limits regardless of battery voltage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Conservative use of sensors – color sensor used as both color and light sensors simultaneously</a:t>
            </a: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6934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Programming the NXT Brick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74638"/>
            <a:ext cx="61722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Development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normAutofit fontScale="77500" lnSpcReduction="20000"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Build Robot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Three Robot Prototypes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Line Following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Started with simple proportional line follower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Moved to full PID line following algorithm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Stopping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One color sensor following line, other sensor looking for stop sign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Turning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Started with an arcing turn, but found it was not predictable, and was not suitable for leading into parking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Move forward into intersection, then point turn 90 degrees, then look for L/R line to follow</a:t>
            </a: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  <a:p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74638"/>
            <a:ext cx="61722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Development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normAutofit fontScale="92500" lnSpcReduction="20000"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Parking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First, we tried dead reckoning from beginning of blue line, then 90 degree point turn into parking spot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Current parking process</a:t>
            </a:r>
          </a:p>
          <a:p>
            <a:pPr lvl="2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Robot gets approximately in front of correct parking spot</a:t>
            </a:r>
          </a:p>
          <a:p>
            <a:pPr lvl="2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Turn till sensor sees white perimeter of parking spot</a:t>
            </a:r>
          </a:p>
          <a:p>
            <a:pPr lvl="2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Follow line to back of parking spot</a:t>
            </a:r>
          </a:p>
          <a:p>
            <a:pPr lvl="2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Stop when other sensor sees back white line</a:t>
            </a:r>
          </a:p>
          <a:p>
            <a:pPr lvl="2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Back out of parking spot, square up on blue line, turn to face forward on road and continue line following</a:t>
            </a:r>
          </a:p>
          <a:p>
            <a:pPr lvl="2"/>
            <a:endParaRPr lang="en-US" b="1" spc="150" dirty="0" smtClean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Developmental Testing Phase Cycle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Write/Revise Code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Test on Robot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Observe Results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Determine Code Changes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Final Testing Phase</a:t>
            </a:r>
          </a:p>
          <a:p>
            <a:pPr lvl="1"/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Test every possible scenario</a:t>
            </a:r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ROBOTC Bugs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251960"/>
          </a:xfrm>
        </p:spPr>
        <p:txBody>
          <a:bodyPr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We found that the only some ROBOTC commands recognize our one reversed motor and we had to work around that</a:t>
            </a:r>
          </a:p>
          <a:p>
            <a:r>
              <a:rPr lang="en-US" b="1" spc="150" dirty="0" smtClean="0">
                <a:ln w="1143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We found that when we set the motor PID off, after a synched turn it would remain on</a:t>
            </a:r>
          </a:p>
          <a:p>
            <a:endParaRPr lang="en-US" b="1" spc="150" dirty="0">
              <a:ln w="1143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1352661" cy="1780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1633</TotalTime>
  <Words>810</Words>
  <Application>Microsoft Office PowerPoint</Application>
  <PresentationFormat>On-screen Show (4:3)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Book Antiqua</vt:lpstr>
      <vt:lpstr>Calibri</vt:lpstr>
      <vt:lpstr>Lucida Sans</vt:lpstr>
      <vt:lpstr>Wingdings</vt:lpstr>
      <vt:lpstr>Wingdings 2</vt:lpstr>
      <vt:lpstr>Wingdings 3</vt:lpstr>
      <vt:lpstr>Apex</vt:lpstr>
      <vt:lpstr>3</vt:lpstr>
      <vt:lpstr>Robot nKISA Perks</vt:lpstr>
      <vt:lpstr>Teamwork</vt:lpstr>
      <vt:lpstr>Robot Design</vt:lpstr>
      <vt:lpstr>Prototype 1</vt:lpstr>
      <vt:lpstr>Robot Design</vt:lpstr>
      <vt:lpstr>Prototype 2</vt:lpstr>
      <vt:lpstr>Robot Design</vt:lpstr>
      <vt:lpstr>Prototype 2</vt:lpstr>
      <vt:lpstr>Programming the NXT Brick</vt:lpstr>
      <vt:lpstr>3-Digit Direction Code</vt:lpstr>
      <vt:lpstr>Programming the NXT Brick</vt:lpstr>
      <vt:lpstr>Development Process</vt:lpstr>
      <vt:lpstr>Development Process</vt:lpstr>
      <vt:lpstr>Robot Testing</vt:lpstr>
      <vt:lpstr>ROBOTC Bugs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Michelle Lutz</dc:creator>
  <cp:lastModifiedBy>James Lutz</cp:lastModifiedBy>
  <cp:revision>174</cp:revision>
  <dcterms:created xsi:type="dcterms:W3CDTF">2012-03-16T14:26:14Z</dcterms:created>
  <dcterms:modified xsi:type="dcterms:W3CDTF">2013-04-05T17:12:29Z</dcterms:modified>
</cp:coreProperties>
</file>